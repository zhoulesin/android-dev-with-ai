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PingFang SC"/>
              </a:defRPr>
            </a:pPr>
            <a:r>
              <a:t>AI 赋能 Android 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0D2FF"/>
                </a:solidFill>
                <a:latin typeface="PingFang SC"/>
              </a:defRPr>
            </a:pPr>
            <a:r>
              <a:t>从工具选型到全流程落地的最佳实践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0233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PingFang SC"/>
              </a:defRPr>
            </a:pPr>
            <a:r>
              <a:t>GPT + Agent 时代，如何系统化地将 AI 引入 Android 开发全流程——</a:t>
            </a:r>
            <a:br/>
            <a:r>
              <a:t>模型、工具、Skills、MCP、工作流、避坑、度量，一份完整的实践指南。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120640"/>
            <a:ext cx="27432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394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PingFang SC"/>
              </a:defRPr>
            </a:pPr>
            <a:r>
              <a:t>2025  ·  11 篇技术博客  ·  真实项目复盘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PingFang SC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PingFang SC"/>
              </a:defRPr>
            </a:pPr>
            <a:r>
              <a:t>基础篇：认识 AI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828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PingFang SC"/>
              </a:defRPr>
            </a:pPr>
            <a:r>
              <a:t>第 1 章 · 背景与趋势 —— 范式跃迁与生态全景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21284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PingFang SC"/>
              </a:defRPr>
            </a:pPr>
            <a:r>
              <a:t>第 2 章 · 大模型选型 —— 7 个模型写 Android 代码实测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59689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PingFang SC"/>
              </a:defRPr>
            </a:pPr>
            <a:r>
              <a:t>第 3 章 · Coding 工具对比 —— Cursor / Copilot / Trae 横向测评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98094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PingFang SC"/>
              </a:defRPr>
            </a:pPr>
            <a:r>
              <a:t>第 4 章 · Skills 与 MCP —— AI 编程的真正威力放大器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39311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PingFang SC"/>
              </a:defRPr>
            </a:pPr>
            <a:r>
              <a:t>实战篇：从技能到全流程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096511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PingFang SC"/>
              </a:defRPr>
            </a:pPr>
            <a:r>
              <a:t>第 5 章 · 高赞 Skills 对比 —— 20 个热门 Skill 实测评分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48055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PingFang SC"/>
              </a:defRPr>
            </a:pPr>
            <a:r>
              <a:t>第 6 章 · Skills 筛选策略 —— 去重框架与定制指南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864607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PingFang SC"/>
              </a:defRPr>
            </a:pPr>
            <a:r>
              <a:t>第 7 章 · 接入项目全流程 —— PRD → Figma → 编码 → 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248655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PingFang SC"/>
              </a:defRPr>
            </a:pPr>
            <a:r>
              <a:t>第 8 章 · 常见陷阱 —— 10 个踩坑实录与解决方案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632703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PingFang SC"/>
              </a:defRPr>
            </a:pPr>
            <a:r>
              <a:t>第 9 章 · 效率保障 —— 采纳率从 40% 提到 85% 的方法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291071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PingFang SC"/>
              </a:defRPr>
            </a:pPr>
            <a:r>
              <a:t>进阶篇：精益与持续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6748271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PingFang SC"/>
              </a:defRPr>
            </a:pPr>
            <a:r>
              <a:t>第 10 章 · Token 经济学 —— Skills 越多越好？实测数据说话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713231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PingFang SC"/>
              </a:defRPr>
            </a:pPr>
            <a:r>
              <a:t>第 11 章 · 持续更新 —— 信息渠道、团队知识库、季度回顾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PingFang SC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PingFang SC"/>
              </a:defRPr>
            </a:pPr>
            <a:r>
              <a:t>基础篇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0B0C0"/>
                </a:solidFill>
                <a:latin typeface="PingFang SC"/>
              </a:defRPr>
            </a:pPr>
            <a:r>
              <a:t>认识 AI Coding —— 建立正确的认知框架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57200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PingFang SC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t>第 1 章 · 背景与趋势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43000"/>
            <a:ext cx="27432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0D2FF"/>
                </a:solidFill>
                <a:latin typeface="PingFang SC"/>
              </a:rPr>
              <a:t>▸ 范式跃迁：</a:t>
            </a:r>
            <a:r>
              <a:rPr sz="1600">
                <a:solidFill>
                  <a:srgbClr val="B0B0C0"/>
                </a:solidFill>
                <a:latin typeface="PingFang SC"/>
              </a:rPr>
              <a:t>Copilot 补全 → GPT-4 对话 → Agent 自主执行，AI 从"帮手"变成"同事"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Android 优势：</a:t>
            </a:r>
            <a:r>
              <a:rPr sz="1600">
                <a:solidFill>
                  <a:srgbClr val="B0B0C0"/>
                </a:solidFill>
                <a:latin typeface="PingFang SC"/>
              </a:rPr>
              <a:t>Kotlin 表达力强、Compose 声明式、Gradle 结构化，天然适合 AI 生成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D2FF"/>
                </a:solidFill>
                <a:latin typeface="PingFang SC"/>
              </a:rPr>
              <a:t>▸ 角色转变：</a:t>
            </a:r>
            <a:r>
              <a:rPr sz="1600">
                <a:solidFill>
                  <a:srgbClr val="B0B0C0"/>
                </a:solidFill>
                <a:latin typeface="PingFang SC"/>
              </a:rPr>
              <a:t>开发者从"代码写手"转型为"架构师 + 审查者"，核心能力是判断力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焦虑与机遇：</a:t>
            </a:r>
            <a:r>
              <a:rPr sz="1600">
                <a:solidFill>
                  <a:srgbClr val="B0B0C0"/>
                </a:solidFill>
                <a:latin typeface="PingFang SC"/>
              </a:rPr>
              <a:t>AI 不是替代你，是替代不用 AI 的人。掌握 AI Coding 的开发者产出 10x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实测数据：</a:t>
            </a:r>
            <a:r>
              <a:rPr sz="1600">
                <a:solidFill>
                  <a:srgbClr val="B0B0C0"/>
                </a:solidFill>
                <a:latin typeface="PingFang SC"/>
              </a:rPr>
              <a:t>一个促销活动页：传统 3 天 → AI 辅助 40 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PingFang SC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t>第 2 章 · 大模型选型：7 个模型写 Android 代码实测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43000"/>
            <a:ext cx="27432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五大测试任务：</a:t>
            </a:r>
            <a:r>
              <a:rPr sz="1600">
                <a:solidFill>
                  <a:srgbClr val="B0B0C0"/>
                </a:solidFill>
                <a:latin typeface="PingFang SC"/>
              </a:rPr>
              <a:t>Compose 聊天列表、Gradle 冲突解决、单元测试生成、Java→Kotlin 转换、ANR 分析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Compose 能力：</a:t>
            </a:r>
            <a:r>
              <a:rPr sz="1600">
                <a:solidFill>
                  <a:srgbClr val="B0B0C0"/>
                </a:solidFill>
                <a:latin typeface="PingFang SC"/>
              </a:rPr>
              <a:t>Claude Sonnet/Opus 理解 recomposition 和 state hoisting 最精准；GPT-4o 可用但需提示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Gradle 短板：</a:t>
            </a:r>
            <a:r>
              <a:rPr sz="1600">
                <a:solidFill>
                  <a:srgbClr val="B0B0C0"/>
                </a:solidFill>
                <a:latin typeface="PingFang SC"/>
              </a:rPr>
              <a:t>几乎所有模型在多模块依赖冲突上表现不稳，需要注入 build.gradle 上下文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多模型组合：</a:t>
            </a:r>
            <a:r>
              <a:rPr sz="1600">
                <a:solidFill>
                  <a:srgbClr val="B0B0C0"/>
                </a:solidFill>
                <a:latin typeface="PingFang SC"/>
              </a:rPr>
              <a:t>推荐策略：便宜模型(DeeSeek/Qwen)日常编码 + 贵模型(Claude Opus)架构设计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D2FF"/>
                </a:solidFill>
                <a:latin typeface="PingFang SC"/>
              </a:rPr>
              <a:t>▸ 关键发现：</a:t>
            </a:r>
            <a:r>
              <a:rPr sz="1600">
                <a:solidFill>
                  <a:srgbClr val="B0B0C0"/>
                </a:solidFill>
                <a:latin typeface="PingFang SC"/>
              </a:rPr>
              <a:t>不要迷信排行榜。最能理解你项目架构的模型，比最"聪明"的模型更重要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PingFang SC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t>第 3 章 · Coding 工具对比：Cursor vs Copilot vs Trae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43000"/>
            <a:ext cx="27432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7 款工具矩阵：</a:t>
            </a:r>
            <a:r>
              <a:rPr sz="1600">
                <a:solidFill>
                  <a:srgbClr val="B0B0C0"/>
                </a:solidFill>
                <a:latin typeface="PingFang SC"/>
              </a:rPr>
              <a:t>Cursor、Copilot、Windsurf、Trae、Claude Code CLI、Codex CLI、Augment Code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IDE vs CLI：</a:t>
            </a:r>
            <a:r>
              <a:rPr sz="1600">
                <a:solidFill>
                  <a:srgbClr val="B0B0C0"/>
                </a:solidFill>
                <a:latin typeface="PingFang SC"/>
              </a:rPr>
              <a:t>IDE 工具适合日常编码和 UI 工作；CLI 工具(Claude Code)更适合复杂多步任务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核心差异：</a:t>
            </a:r>
            <a:r>
              <a:rPr sz="1600">
                <a:solidFill>
                  <a:srgbClr val="B0B0C0"/>
                </a:solidFill>
                <a:latin typeface="PingFang SC"/>
              </a:rPr>
              <a:t>Agent 能力 → MCP/Skills 支持 → 终端集成 → Android/Gradle 理解深度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Android 实测：</a:t>
            </a:r>
            <a:r>
              <a:rPr sz="1600">
                <a:solidFill>
                  <a:srgbClr val="B0B0C0"/>
                </a:solidFill>
                <a:latin typeface="PingFang SC"/>
              </a:rPr>
              <a:t>多模块项目中 Claude Code 表现最稳（读 Gradle 依赖图更准），Cursor 在 Compose UI 场景更佳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D2FF"/>
                </a:solidFill>
                <a:latin typeface="PingFang SC"/>
              </a:rPr>
              <a:t>▸ 推荐组合：</a:t>
            </a:r>
            <a:r>
              <a:rPr sz="1600">
                <a:solidFill>
                  <a:srgbClr val="B0B0C0"/>
                </a:solidFill>
                <a:latin typeface="PingFang SC"/>
              </a:rPr>
              <a:t>Cursor 日常编码 + Claude Code 处理复杂任务和架构级变更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PingFang SC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t>第 4 章 · Skills 与 MCP：AI 编程的真正威力放大器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43000"/>
            <a:ext cx="27432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0D2FF"/>
                </a:solidFill>
                <a:latin typeface="PingFang SC"/>
              </a:rPr>
              <a:t>▸ Skills 本质：</a:t>
            </a:r>
            <a:r>
              <a:rPr sz="1600">
                <a:solidFill>
                  <a:srgbClr val="B0B0C0"/>
                </a:solidFill>
                <a:latin typeface="PingFang SC"/>
              </a:rPr>
              <a:t>不是配置文件，是领域知识注入——让 AI 理解你的项目规范、架构约束和编码习惯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SKILL.md 设计：</a:t>
            </a:r>
            <a:r>
              <a:rPr sz="1600">
                <a:solidFill>
                  <a:srgbClr val="B0B0C0"/>
                </a:solidFill>
                <a:latin typeface="PingFang SC"/>
              </a:rPr>
              <a:t>触发词 + 专业规则 + 示例。一个好的 Compose Skill 能让 AI 从不写 LiveData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MCP 协议：</a:t>
            </a:r>
            <a:r>
              <a:rPr sz="1600">
                <a:solidFill>
                  <a:srgbClr val="B0B0C0"/>
                </a:solidFill>
                <a:latin typeface="PingFang SC"/>
              </a:rPr>
              <a:t>连接外部世界的桥梁——Figma MCP（设计→代码）、GitHub MCP（Issue/PR 操作）、数据库 MCP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D2FF"/>
                </a:solidFill>
                <a:latin typeface="PingFang SC"/>
              </a:rPr>
              <a:t>▸ CLAUDE.md：</a:t>
            </a:r>
            <a:r>
              <a:rPr sz="1600">
                <a:solidFill>
                  <a:srgbClr val="B0B0C0"/>
                </a:solidFill>
                <a:latin typeface="PingFang SC"/>
              </a:rPr>
              <a:t>最重要的单文件。100 行的项目上下文文件，是后续所有对话质量的基石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经验之谈：</a:t>
            </a:r>
            <a:r>
              <a:rPr sz="1600">
                <a:solidFill>
                  <a:srgbClr val="B0B0C0"/>
                </a:solidFill>
                <a:latin typeface="PingFang SC"/>
              </a:rPr>
              <a:t>Skills 和马步一样——写了 CLAUDE.md 和 Compose Rules，代码质量直接翻倍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PingFang SC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PingFang SC"/>
              </a:defRPr>
            </a:pPr>
            <a:r>
              <a:t>实战篇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0B0C0"/>
                </a:solidFill>
                <a:latin typeface="PingFang SC"/>
              </a:defRPr>
            </a:pPr>
            <a:r>
              <a:t>从 Skills 选型到全流程落地 —— 真实项目中的数据与经验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57200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PingFang SC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t>第 5 章 · 高赞 Skills 对比：20 个热门 Skill 实测评分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43000"/>
            <a:ext cx="27432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评测维度：</a:t>
            </a:r>
            <a:r>
              <a:rPr sz="1600">
                <a:solidFill>
                  <a:srgbClr val="B0B0C0"/>
                </a:solidFill>
                <a:latin typeface="PingFang SC"/>
              </a:rPr>
              <a:t>有用性、Token 成本、维护质量、Android 适配度 —— 四维度 × 20+ Skills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Memory 类：</a:t>
            </a:r>
            <a:r>
              <a:rPr sz="1600">
                <a:solidFill>
                  <a:srgbClr val="B0B0C0"/>
                </a:solidFill>
                <a:latin typeface="PingFang SC"/>
              </a:rPr>
              <a:t>CLAUDE.md 性价比最高；memory-bank 功能强但 Token 贵；spec-driven 适合大项目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流程管理类：</a:t>
            </a:r>
            <a:r>
              <a:rPr sz="1600">
                <a:solidFill>
                  <a:srgbClr val="B0B0C0"/>
                </a:solidFill>
                <a:latin typeface="PingFang SC"/>
              </a:rPr>
              <a:t>TDD Skill 真正提升代码质量；brainstorming + writing-plans 组合对复杂需求价值极高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Android 专项：</a:t>
            </a:r>
            <a:r>
              <a:rPr sz="1600">
                <a:solidFill>
                  <a:srgbClr val="B0B0C0"/>
                </a:solidFill>
                <a:latin typeface="PingFang SC"/>
              </a:rPr>
              <a:t>社区 Android Skills 较少，建议自建：Compose 组件生成器、Hilt 依赖检查、导航图验证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D2FF"/>
                </a:solidFill>
                <a:latin typeface="PingFang SC"/>
              </a:rPr>
              <a:t>▸ 核心感悟：</a:t>
            </a:r>
            <a:r>
              <a:rPr sz="1600">
                <a:solidFill>
                  <a:srgbClr val="B0B0C0"/>
                </a:solidFill>
                <a:latin typeface="PingFang SC"/>
              </a:rPr>
              <a:t>一个写好 CLD 的项目 + 3 个精准 Skill &gt; 装 20 个通用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PingFang SC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t>第 6 章 · Skills 筛选策略：如何做减法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43000"/>
            <a:ext cx="27432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五步筛选：</a:t>
            </a:r>
            <a:r>
              <a:rPr sz="1600">
                <a:solidFill>
                  <a:srgbClr val="B0B0C0"/>
                </a:solidFill>
                <a:latin typeface="PingFang SC"/>
              </a:rPr>
              <a:t>必要性测试 → 频率分析 → A/B 对比 → Token 核算 → 维护度检查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功能重叠：</a:t>
            </a:r>
            <a:r>
              <a:rPr sz="1600">
                <a:solidFill>
                  <a:srgbClr val="B0B0C0"/>
                </a:solidFill>
                <a:latin typeface="PingFang SC"/>
              </a:rPr>
              <a:t>3 个 Code Review Skill 怎么选？原则：选最聚焦的，不选最全面的。覆盖度≠有用度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D2FF"/>
                </a:solidFill>
                <a:latin typeface="PingFang SC"/>
              </a:rPr>
              <a:t>▸ 自写 vs 社区：</a:t>
            </a:r>
            <a:r>
              <a:rPr sz="1600">
                <a:solidFill>
                  <a:srgbClr val="B0B0C0"/>
                </a:solidFill>
                <a:latin typeface="PingFang SC"/>
              </a:rPr>
              <a:t>通用流程用社区 Skill（TDD、Debugging），Android 专项必须自建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场景分组：</a:t>
            </a:r>
            <a:r>
              <a:rPr sz="1600">
                <a:solidFill>
                  <a:srgbClr val="B0B0C0"/>
                </a:solidFill>
                <a:latin typeface="PingFang SC"/>
              </a:rPr>
              <a:t>不要全量加载。开发 5 个 Skill、审查 3 个、调试 3 个，按任务切换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D2FF"/>
                </a:solidFill>
                <a:latin typeface="PingFang SC"/>
              </a:rPr>
              <a:t>▸ 经验之谈：</a:t>
            </a:r>
            <a:r>
              <a:rPr sz="1600">
                <a:solidFill>
                  <a:srgbClr val="B0B0C0"/>
                </a:solidFill>
                <a:latin typeface="PingFang SC"/>
              </a:rPr>
              <a:t>30 个 Skill → Token 翻 3 倍，代码质量反而下降。8-15 个是甜点区间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PingFang SC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t>第 7 章 · 接入项目全流程：一个功能的真实复盘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43000"/>
            <a:ext cx="27432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0D2FF"/>
                </a:solidFill>
                <a:latin typeface="PingFang SC"/>
              </a:rPr>
              <a:t>▸ 前置配置：</a:t>
            </a:r>
            <a:r>
              <a:rPr sz="1600">
                <a:solidFill>
                  <a:srgbClr val="B0B0C0"/>
                </a:solidFill>
                <a:latin typeface="PingFang SC"/>
              </a:rPr>
              <a:t>花 20 分钟写 CLAUDE.md。这是整个流程中 ROI 最高的 20 分钟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产品阶段：</a:t>
            </a:r>
            <a:r>
              <a:rPr sz="1600">
                <a:solidFill>
                  <a:srgbClr val="B0B0C0"/>
                </a:solidFill>
                <a:latin typeface="PingFang SC"/>
              </a:rPr>
              <a:t>PRD → AI 提取技术要点 → 架构方案 → 工时预估。3 分钟出骨架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UI 阶段：</a:t>
            </a:r>
            <a:r>
              <a:rPr sz="1600">
                <a:solidFill>
                  <a:srgbClr val="B0B0C0"/>
                </a:solidFill>
                <a:latin typeface="PingFang SC"/>
              </a:rPr>
              <a:t>Figma → 3 轮迭代法：结构→样式→细节。Design Token 注入是关键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开发阶段：</a:t>
            </a:r>
            <a:r>
              <a:rPr sz="1600">
                <a:solidFill>
                  <a:srgbClr val="B0B0C0"/>
                </a:solidFill>
                <a:latin typeface="PingFang SC"/>
              </a:rPr>
              <a:t>TDD 模式：AI 写测试 → AI 写实现 → 验证。ViewModel 一次过，Repository 需两轮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测试阶段：</a:t>
            </a:r>
            <a:r>
              <a:rPr sz="1600">
                <a:solidFill>
                  <a:srgbClr val="B0B0C0"/>
                </a:solidFill>
                <a:latin typeface="PingFang SC"/>
              </a:rPr>
              <a:t>AI 生成 90% 单测 + 80% UI 测试。覆盖率 45% → 82%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D2FF"/>
                </a:solidFill>
                <a:latin typeface="PingFang SC"/>
              </a:rPr>
              <a:t>▸ 最终数据：</a:t>
            </a:r>
            <a:r>
              <a:rPr sz="1600">
                <a:solidFill>
                  <a:srgbClr val="B0B0C0"/>
                </a:solidFill>
                <a:latin typeface="PingFang SC"/>
              </a:rPr>
              <a:t>总耗时 8.5h（传统 ~20h），AI 写了 70% 代码，Bug 率未升高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PingFang SC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t>第 8 章 · 常见陷阱：10 个踩坑实录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43000"/>
            <a:ext cx="27432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0D2FF"/>
                </a:solidFill>
                <a:latin typeface="PingFang SC"/>
              </a:rPr>
              <a:t>▸ 迭代破坏：</a:t>
            </a:r>
            <a:r>
              <a:rPr sz="1600">
                <a:solidFill>
                  <a:srgbClr val="B0B0C0"/>
                </a:solidFill>
                <a:latin typeface="PingFang SC"/>
              </a:rPr>
              <a:t>AI 重构时误删已有功能 → Git diff 注入 + 模块锁定法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D2FF"/>
                </a:solidFill>
                <a:latin typeface="PingFang SC"/>
              </a:rPr>
              <a:t>▸ Figma 还原：</a:t>
            </a:r>
            <a:r>
              <a:rPr sz="1600">
                <a:solidFill>
                  <a:srgbClr val="B0B0C0"/>
                </a:solidFill>
                <a:latin typeface="PingFang SC"/>
              </a:rPr>
              <a:t>间距永远差 4dp → Design Token 注入 + 分层生成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上下文溢出：</a:t>
            </a:r>
            <a:r>
              <a:rPr sz="1600">
                <a:solidFill>
                  <a:srgbClr val="B0B0C0"/>
                </a:solidFill>
                <a:latin typeface="PingFang SC"/>
              </a:rPr>
              <a:t>50 模块项目 AI '说胡话' → 模块化 Rules + 按需加载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Gradle 幻觉：</a:t>
            </a:r>
            <a:r>
              <a:rPr sz="1600">
                <a:solidFill>
                  <a:srgbClr val="B0B0C0"/>
                </a:solidFill>
                <a:latin typeface="PingFang SC"/>
              </a:rPr>
              <a:t>AI 建议不存在的依赖版本 → version catalog 上下文注入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风格混乱：</a:t>
            </a:r>
            <a:r>
              <a:rPr sz="1600">
                <a:solidFill>
                  <a:srgbClr val="B0B0C0"/>
                </a:solidFill>
                <a:latin typeface="PingFang SC"/>
              </a:rPr>
              <a:t>3 个不同人写的风格 → ktlint + detekt + 详细 Style Rules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D2FF"/>
                </a:solidFill>
                <a:latin typeface="PingFang SC"/>
              </a:rPr>
              <a:t>▸ 安全红线：</a:t>
            </a:r>
            <a:r>
              <a:rPr sz="1600">
                <a:solidFill>
                  <a:srgbClr val="B0B0C0"/>
                </a:solidFill>
                <a:latin typeface="PingFang SC"/>
              </a:rPr>
              <a:t>AI 生成硬编码密钥 → Security Rules + pre-commit secret 扫描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PingFang SC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t>第 9 章 · 效率保障：采纳率从 40% 提到 85%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43000"/>
            <a:ext cx="27432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Prompt 公式：</a:t>
            </a:r>
            <a:r>
              <a:rPr sz="1600">
                <a:solidFill>
                  <a:srgbClr val="B0B0C0"/>
                </a:solidFill>
                <a:latin typeface="PingFang SC"/>
              </a:rPr>
              <a:t>角色 + 上下文 + 约束 + 示例 + 输出格式。好 Prompt 让输出质量翻倍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Rules 三层设计：</a:t>
            </a:r>
            <a:r>
              <a:rPr sz="1600">
                <a:solidFill>
                  <a:srgbClr val="B0B0C0"/>
                </a:solidFill>
                <a:latin typeface="PingFang SC"/>
              </a:rPr>
              <a:t>项目级(技术栈+架构) → 模块级(依赖+约束) → 功能级(具体上下文+禁止项)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D2FF"/>
                </a:solidFill>
                <a:latin typeface="PingFang SC"/>
              </a:rPr>
              <a:t>▸ 三层防线：</a:t>
            </a:r>
            <a:r>
              <a:rPr sz="1600">
                <a:solidFill>
                  <a:srgbClr val="B0B0C0"/>
                </a:solidFill>
                <a:latin typeface="PingFang SC"/>
              </a:rPr>
              <a:t>AI 自检(拦截 60%) → ktlint+detekt+Lint(拦截 30%) → 人工审查(拦截 10%)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D2FF"/>
                </a:solidFill>
                <a:latin typeface="PingFang SC"/>
              </a:rPr>
              <a:t>▸ 度量体系：</a:t>
            </a:r>
            <a:r>
              <a:rPr sz="1600">
                <a:solidFill>
                  <a:srgbClr val="B0B0C0"/>
                </a:solidFill>
                <a:latin typeface="PingFang SC"/>
              </a:rPr>
              <a:t>代码采纳率、Bug 引入率、吞吐量的 Git 统计方法 + 季度评估模板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70/30 法则：</a:t>
            </a:r>
            <a:r>
              <a:rPr sz="1600">
                <a:solidFill>
                  <a:srgbClr val="B0B0C0"/>
                </a:solidFill>
                <a:latin typeface="PingFang SC"/>
              </a:rPr>
              <a:t>AI 写 70%(样板、测试、UI)，人工写 30%(架构决策、业务逻辑、安全)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PingFang SC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PingFang SC"/>
              </a:defRPr>
            </a:pPr>
            <a:r>
              <a:t>进阶篇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0B0C0"/>
                </a:solidFill>
                <a:latin typeface="PingFang SC"/>
              </a:defRPr>
            </a:pPr>
            <a:r>
              <a:t>精益与持续 —— 让 AI Coding 可持续地发挥作用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57200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PingFang SC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t>第 10 章 · Token 经济学：Skills 越多越好？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43000"/>
            <a:ext cx="27432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0D2FF"/>
                </a:solidFill>
                <a:latin typeface="PingFang SC"/>
              </a:rPr>
              <a:t>▸ 实测数据：</a:t>
            </a:r>
            <a:r>
              <a:rPr sz="1600">
                <a:solidFill>
                  <a:srgbClr val="B0B0C0"/>
                </a:solidFill>
                <a:latin typeface="PingFang SC"/>
              </a:rPr>
              <a:t>同任务 5 档配置：0 Skills→$0.18，3个→$0.24，8个→$0.34，25个→$0.59，40个→代码质量反降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边际递减：</a:t>
            </a:r>
            <a:r>
              <a:rPr sz="1600">
                <a:solidFill>
                  <a:srgbClr val="B0B0C0"/>
                </a:solidFill>
                <a:latin typeface="PingFang SC"/>
              </a:rPr>
              <a:t>8-15 个 Skills 是甜点区间。超过 20 个，Token 线性增长但采纳率停滞甚至下降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D2FF"/>
                </a:solidFill>
                <a:latin typeface="PingFang SC"/>
              </a:rPr>
              <a:t>▸ 关键发现：</a:t>
            </a:r>
            <a:r>
              <a:rPr sz="1600">
                <a:solidFill>
                  <a:srgbClr val="B0B0C0"/>
                </a:solidFill>
                <a:latin typeface="PingFang SC"/>
              </a:rPr>
              <a:t>40 个 Skills 的代码质量比 8 个还差——AI 被太多指令搞糊涂了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按场景加载：</a:t>
            </a:r>
            <a:r>
              <a:rPr sz="1600">
                <a:solidFill>
                  <a:srgbClr val="B0B0C0"/>
                </a:solidFill>
                <a:latin typeface="PingFang SC"/>
              </a:rPr>
              <a:t>开发 / 审查 / 调试各一组 Skills，不要全量挂载。用条件触发精准匹配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省钱三招：</a:t>
            </a:r>
            <a:r>
              <a:rPr sz="1600">
                <a:solidFill>
                  <a:srgbClr val="B0B0C0"/>
                </a:solidFill>
                <a:latin typeface="PingFang SC"/>
              </a:rPr>
              <a:t>简单任务用便宜模型、定期裁剪低频 Skills、精简 Rules 文件（200 行以内）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PingFang SC"/>
              </a:defRPr>
            </a:pPr>
            <a:r>
              <a:t>15 /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t>第 11 章 · 持续更新：不被 FOMO 拖死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43000"/>
            <a:ext cx="27432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信息食谱：</a:t>
            </a:r>
            <a:r>
              <a:rPr sz="1600">
                <a:solidFill>
                  <a:srgbClr val="B0B0C0"/>
                </a:solidFill>
                <a:latin typeface="PingFang SC"/>
              </a:rPr>
              <a:t>2 个 Twitter 号 + 1 份周刊 + GitHub Trending。每月 30 分钟就够了，不要日日刷新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团队知识库：</a:t>
            </a:r>
            <a:r>
              <a:rPr sz="1600">
                <a:solidFill>
                  <a:srgbClr val="B0B0C0"/>
                </a:solidFill>
                <a:latin typeface="PingFang SC"/>
              </a:rPr>
              <a:t>Prompt 模板库 + 踩坑日志 + Skills 配置仓库 + 季度复盘。做到可传承可复用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新工具冷静期：</a:t>
            </a:r>
            <a:r>
              <a:rPr sz="1600">
                <a:solidFill>
                  <a:srgbClr val="B0B0C0"/>
                </a:solidFill>
                <a:latin typeface="PingFang SC"/>
              </a:rPr>
              <a:t>新工具/新模型等 2 周再上。让早期用户踩坑，稳定后再评估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▸ 季度重置：</a:t>
            </a:r>
            <a:r>
              <a:rPr sz="1600">
                <a:solidFill>
                  <a:srgbClr val="B0B0C0"/>
                </a:solidFill>
                <a:latin typeface="PingFang SC"/>
              </a:rPr>
              <a:t>每季度 2 小时：审计 Skills → 更新 Rules → 检查指标 → 尝试 1-2 个新工具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D2FF"/>
                </a:solidFill>
                <a:latin typeface="PingFang SC"/>
              </a:rPr>
              <a:t>▸ 核心心态：</a:t>
            </a:r>
            <a:r>
              <a:rPr sz="1600">
                <a:solidFill>
                  <a:srgbClr val="B0B0C0"/>
                </a:solidFill>
                <a:latin typeface="PingFang SC"/>
              </a:rPr>
              <a:t>工具服务于目标。稳定性 &gt; 新奇感。用熟悉的工具写出好代码，比用最新的更值得尊重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PingFang SC"/>
              </a:defRPr>
            </a:pPr>
            <a:r>
              <a:t>16 / 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  <a:latin typeface="PingFang SC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0B0C0"/>
                </a:solidFill>
                <a:latin typeface="PingFang SC"/>
              </a:defRPr>
            </a:pPr>
            <a:r>
              <a:t>AI 不是替代你，是放大你。</a:t>
            </a:r>
            <a:br/>
            <a:r>
              <a:t>用得好，你就是 10x 开发者。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PingFang SC"/>
              </a:defRPr>
            </a:pPr>
            <a:r>
              <a:t>github.com/cozlya/android-dev-with-ai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PingFang SC"/>
              </a:defRPr>
            </a:pPr>
            <a:r>
              <a:t>17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